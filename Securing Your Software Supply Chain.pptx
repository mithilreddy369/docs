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roxima Nova"/>
      <p:regular r:id="rId13"/>
      <p:bold r:id="rId14"/>
      <p:italic r:id="rId15"/>
      <p:boldItalic r:id="rId16"/>
    </p:embeddedFont>
    <p:embeddedFont>
      <p:font typeface="Alfa Slab One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italic.fntdata"/><Relationship Id="rId14" Type="http://schemas.openxmlformats.org/officeDocument/2006/relationships/font" Target="fonts/ProximaNova-bold.fntdata"/><Relationship Id="rId17" Type="http://schemas.openxmlformats.org/officeDocument/2006/relationships/font" Target="fonts/AlfaSlabOne-regular.fntdata"/><Relationship Id="rId16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a114cc1955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a114cc1955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a114cc1955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a114cc1955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a114cc1955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a114cc1955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a114cc1955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a114cc1955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73a04f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73a04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Securing Your Software Supply Chain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 MITHILESH REDDY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23001D5114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</a:t>
            </a:r>
            <a:r>
              <a:rPr lang="en"/>
              <a:t>Software Supply Chain 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70725"/>
            <a:ext cx="8520600" cy="17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The software supply chain is the end-to-end process of creating, testing, and deploying computer programs. It involves a series of connected steps, starting with writing the source code and ending when the software is ready for use.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725" y="2571751"/>
            <a:ext cx="7688900" cy="106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for Securing the Supply Chain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Source Code Security: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" sz="1500">
                <a:solidFill>
                  <a:srgbClr val="000000"/>
                </a:solidFill>
              </a:rPr>
              <a:t>Regularly review and analyze the code for vulnerabilities.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" sz="1500">
                <a:solidFill>
                  <a:srgbClr val="000000"/>
                </a:solidFill>
              </a:rPr>
              <a:t>Implement static code analysis tools to identify potential security issues.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" sz="1500">
                <a:solidFill>
                  <a:srgbClr val="000000"/>
                </a:solidFill>
              </a:rPr>
              <a:t>Encourage secure coding practices through training and code reviews.</a:t>
            </a:r>
            <a:endParaRPr sz="1500">
              <a:solidFill>
                <a:srgbClr val="000000"/>
              </a:solidFill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Continuous Testing: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" sz="1500">
                <a:solidFill>
                  <a:srgbClr val="000000"/>
                </a:solidFill>
              </a:rPr>
              <a:t>Conduct automated security testing, including static and dynamic analysis.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" sz="1500">
                <a:solidFill>
                  <a:srgbClr val="000000"/>
                </a:solidFill>
              </a:rPr>
              <a:t>Integrate security testing into the continuous integration/continuous deployment (CI/CD) pipeline.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" sz="1500">
                <a:solidFill>
                  <a:srgbClr val="000000"/>
                </a:solidFill>
              </a:rPr>
              <a:t>Perform penetration testing to identify and address potential weaknesses.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for Securing the Supply Chain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     Employee Training: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" sz="1500">
                <a:solidFill>
                  <a:srgbClr val="000000"/>
                </a:solidFill>
              </a:rPr>
              <a:t>Provide specialized security training for developers on common vulnerabilities.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" sz="1500">
                <a:solidFill>
                  <a:srgbClr val="000000"/>
                </a:solidFill>
              </a:rPr>
              <a:t>Conduct regular phishing awareness training for all employees.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Encryption: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" sz="1500">
                <a:solidFill>
                  <a:srgbClr val="000000"/>
                </a:solidFill>
              </a:rPr>
              <a:t>Apply end-to-end encryption for sensitive data.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" sz="1500">
                <a:solidFill>
                  <a:srgbClr val="000000"/>
                </a:solidFill>
              </a:rPr>
              <a:t>Implement encryption for data using strong encryption algorithms.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" sz="1500">
                <a:solidFill>
                  <a:srgbClr val="000000"/>
                </a:solidFill>
              </a:rPr>
              <a:t>Regularly update encryption protocols to align with industry standards.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for Securing the Supply Chain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Continuous Monitoring: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" sz="1500">
                <a:solidFill>
                  <a:srgbClr val="000000"/>
                </a:solidFill>
              </a:rPr>
              <a:t>Using detection systems to monitor and detect unusual activities.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" sz="1500">
                <a:solidFill>
                  <a:srgbClr val="000000"/>
                </a:solidFill>
              </a:rPr>
              <a:t>Set up real-time alerts for security incidents.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" sz="1500">
                <a:solidFill>
                  <a:srgbClr val="000000"/>
                </a:solidFill>
              </a:rPr>
              <a:t>Regularly analyze and act upon security logs.</a:t>
            </a:r>
            <a:endParaRPr sz="1500">
              <a:solidFill>
                <a:srgbClr val="000000"/>
              </a:solidFill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Patch Management: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" sz="1500">
                <a:solidFill>
                  <a:srgbClr val="000000"/>
                </a:solidFill>
              </a:rPr>
              <a:t>Establish a centralized patch management system for timely updates.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" sz="1500">
                <a:solidFill>
                  <a:srgbClr val="000000"/>
                </a:solidFill>
              </a:rPr>
              <a:t>Prioritize critical patches and vulnerabilities based on risk assessments.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" sz="1500">
                <a:solidFill>
                  <a:srgbClr val="000000"/>
                </a:solidFill>
              </a:rPr>
              <a:t>Test patches in a controlled environment before applying them to the production environment.</a:t>
            </a:r>
            <a:endParaRPr sz="1500">
              <a:solidFill>
                <a:srgbClr val="000000"/>
              </a:solidFill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 Importance of Securing Software Supply Chain</a:t>
            </a:r>
            <a:endParaRPr sz="2500"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❏"/>
            </a:pPr>
            <a:r>
              <a:rPr b="1" lang="en" sz="1900">
                <a:solidFill>
                  <a:srgbClr val="000000"/>
                </a:solidFill>
              </a:rPr>
              <a:t>Preventing Data Problems: </a:t>
            </a:r>
            <a:r>
              <a:rPr lang="en" sz="1900">
                <a:solidFill>
                  <a:srgbClr val="000000"/>
                </a:solidFill>
              </a:rPr>
              <a:t>Making sure no one gets unauthorized access to important information, keeping it safe and private.</a:t>
            </a:r>
            <a:endParaRPr sz="1900">
              <a:solidFill>
                <a:srgbClr val="000000"/>
              </a:solidFill>
            </a:endParaRPr>
          </a:p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❏"/>
            </a:pPr>
            <a:r>
              <a:rPr b="1" lang="en" sz="1900">
                <a:solidFill>
                  <a:srgbClr val="000000"/>
                </a:solidFill>
              </a:rPr>
              <a:t>User Trust:</a:t>
            </a:r>
            <a:r>
              <a:rPr lang="en" sz="1900">
                <a:solidFill>
                  <a:srgbClr val="000000"/>
                </a:solidFill>
              </a:rPr>
              <a:t> Building confidence in customers that the company's products are reliable and won't cause problems.</a:t>
            </a:r>
            <a:endParaRPr sz="1900">
              <a:solidFill>
                <a:srgbClr val="000000"/>
              </a:solidFill>
            </a:endParaRPr>
          </a:p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❏"/>
            </a:pPr>
            <a:r>
              <a:rPr b="1" lang="en" sz="1900">
                <a:solidFill>
                  <a:srgbClr val="000000"/>
                </a:solidFill>
              </a:rPr>
              <a:t>Idea Safety:</a:t>
            </a:r>
            <a:r>
              <a:rPr lang="en" sz="1900">
                <a:solidFill>
                  <a:srgbClr val="000000"/>
                </a:solidFill>
              </a:rPr>
              <a:t> Keeping smart and unique ideas within the company, protecting them from being stolen.</a:t>
            </a:r>
            <a:endParaRPr sz="1900">
              <a:solidFill>
                <a:srgbClr val="000000"/>
              </a:solidFill>
            </a:endParaRPr>
          </a:p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❏"/>
            </a:pPr>
            <a:r>
              <a:rPr b="1" lang="en" sz="1900">
                <a:solidFill>
                  <a:srgbClr val="000000"/>
                </a:solidFill>
              </a:rPr>
              <a:t>Keeping Things Running:</a:t>
            </a:r>
            <a:r>
              <a:rPr lang="en" sz="1900">
                <a:solidFill>
                  <a:srgbClr val="000000"/>
                </a:solidFill>
              </a:rPr>
              <a:t> Making sure everything continues to work smoothly without any disruptions.</a:t>
            </a:r>
            <a:endParaRPr sz="1900">
              <a:solidFill>
                <a:srgbClr val="000000"/>
              </a:solidFill>
            </a:endParaRPr>
          </a:p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❏"/>
            </a:pPr>
            <a:r>
              <a:rPr b="1" lang="en" sz="1900">
                <a:solidFill>
                  <a:srgbClr val="000000"/>
                </a:solidFill>
              </a:rPr>
              <a:t>Good Reputation:</a:t>
            </a:r>
            <a:r>
              <a:rPr lang="en" sz="1900">
                <a:solidFill>
                  <a:srgbClr val="000000"/>
                </a:solidFill>
              </a:rPr>
              <a:t> Doing things well and earning a positive image, so people think highly of the company.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68000" y="21939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    </a:t>
            </a:r>
            <a:r>
              <a:rPr lang="en" sz="3000"/>
              <a:t>Thanks!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