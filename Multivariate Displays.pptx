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roxima Nova"/>
      <p:regular r:id="rId17"/>
      <p:bold r:id="rId18"/>
      <p:italic r:id="rId19"/>
      <p:boldItalic r:id="rId20"/>
    </p:embeddedFont>
    <p:embeddedFont>
      <p:font typeface="Alfa Slab One"/>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AlfaSlabOne-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roximaNova-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roximaNova-italic.fntdata"/><Relationship Id="rId6" Type="http://schemas.openxmlformats.org/officeDocument/2006/relationships/slide" Target="slides/slide1.xml"/><Relationship Id="rId18" Type="http://schemas.openxmlformats.org/officeDocument/2006/relationships/font" Target="fonts/ProximaNova-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61f8efe352_0_1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261f8efe352_0_1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61f8efe352_0_5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61f8efe352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61f8efe352_0_13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61f8efe352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c6f73a04f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c6f73a0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61f8efe352_0_13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61f8efe352_0_1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61f8efe352_0_13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61f8efe352_0_1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61f8efe352_0_136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61f8efe352_0_1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61f8efe352_0_13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61f8efe352_0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1f8efe352_0_13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61f8efe352_0_1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c6f73a04f_0_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c6f73a04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Multivariate Displays</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Unlocking Insights through Visualizations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Multivariate Displays: What Are They?</a:t>
            </a:r>
            <a:endParaRPr b="1"/>
          </a:p>
          <a:p>
            <a:pPr indent="-342900" lvl="0" marL="457200" rtl="0" algn="l">
              <a:spcBef>
                <a:spcPts val="1200"/>
              </a:spcBef>
              <a:spcAft>
                <a:spcPts val="0"/>
              </a:spcAft>
              <a:buSzPts val="1800"/>
              <a:buChar char="❏"/>
            </a:pPr>
            <a:r>
              <a:rPr lang="en"/>
              <a:t>Seeing all your data at once.</a:t>
            </a:r>
            <a:endParaRPr/>
          </a:p>
          <a:p>
            <a:pPr indent="-342900" lvl="0" marL="457200" rtl="0" algn="l">
              <a:spcBef>
                <a:spcPts val="0"/>
              </a:spcBef>
              <a:spcAft>
                <a:spcPts val="0"/>
              </a:spcAft>
              <a:buSzPts val="1800"/>
              <a:buChar char="❏"/>
            </a:pPr>
            <a:r>
              <a:rPr lang="en"/>
              <a:t>Understanding everything together.</a:t>
            </a:r>
            <a:endParaRPr/>
          </a:p>
          <a:p>
            <a:pPr indent="-342900" lvl="0" marL="457200" rtl="0" algn="l">
              <a:spcBef>
                <a:spcPts val="0"/>
              </a:spcBef>
              <a:spcAft>
                <a:spcPts val="0"/>
              </a:spcAft>
              <a:buSzPts val="1800"/>
              <a:buChar char="❏"/>
            </a:pPr>
            <a:r>
              <a:rPr lang="en"/>
              <a:t>Smarter decisions, clearer insights.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Definition of Multivariate Displays</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Multivariate displays are visual tools that show relationships among multiple things at once. They help us understand how different factors connect and interact in a single picture. These displays are like super-charts, giving us a complete view of data and making it easier to make smart decisions. By putting everything in one place, they help us see patterns and details that might be missed when looking at just one thing.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Multivariate Displays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Scatter Plots</a:t>
            </a:r>
            <a:endParaRPr b="1"/>
          </a:p>
          <a:p>
            <a:pPr indent="-342900" lvl="0" marL="457200" rtl="0" algn="l">
              <a:spcBef>
                <a:spcPts val="0"/>
              </a:spcBef>
              <a:spcAft>
                <a:spcPts val="0"/>
              </a:spcAft>
              <a:buSzPts val="1800"/>
              <a:buChar char="❏"/>
            </a:pPr>
            <a:r>
              <a:rPr b="1" lang="en"/>
              <a:t>Heatmaps</a:t>
            </a:r>
            <a:endParaRPr b="1"/>
          </a:p>
          <a:p>
            <a:pPr indent="-342900" lvl="0" marL="457200" rtl="0" algn="l">
              <a:spcBef>
                <a:spcPts val="0"/>
              </a:spcBef>
              <a:spcAft>
                <a:spcPts val="0"/>
              </a:spcAft>
              <a:buSzPts val="1800"/>
              <a:buChar char="❏"/>
            </a:pPr>
            <a:r>
              <a:rPr b="1" lang="en"/>
              <a:t>Bubble Charts</a:t>
            </a:r>
            <a:endParaRPr b="1"/>
          </a:p>
          <a:p>
            <a:pPr indent="-342900" lvl="0" marL="457200" rtl="0" algn="l">
              <a:spcBef>
                <a:spcPts val="0"/>
              </a:spcBef>
              <a:spcAft>
                <a:spcPts val="0"/>
              </a:spcAft>
              <a:buSzPts val="1800"/>
              <a:buChar char="❏"/>
            </a:pPr>
            <a:r>
              <a:rPr b="1" lang="en"/>
              <a:t>Parallel coordinates</a:t>
            </a:r>
            <a:endParaRPr b="1"/>
          </a:p>
          <a:p>
            <a:pPr indent="0" lvl="0" marL="0" rtl="0" algn="l">
              <a:spcBef>
                <a:spcPts val="1200"/>
              </a:spcBef>
              <a:spcAft>
                <a:spcPts val="1200"/>
              </a:spcAft>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Scatter Plot</a:t>
            </a:r>
            <a:endParaRPr/>
          </a:p>
        </p:txBody>
      </p:sp>
      <p:sp>
        <p:nvSpPr>
          <p:cNvPr id="81" name="Google Shape;81;p1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Graphical representation of the relationship between two continuous variables.</a:t>
            </a:r>
            <a:endParaRPr/>
          </a:p>
        </p:txBody>
      </p:sp>
      <p:pic>
        <p:nvPicPr>
          <p:cNvPr id="82" name="Google Shape;82;p17"/>
          <p:cNvPicPr preferRelativeResize="0"/>
          <p:nvPr/>
        </p:nvPicPr>
        <p:blipFill>
          <a:blip r:embed="rId3">
            <a:alphaModFix/>
          </a:blip>
          <a:stretch>
            <a:fillRect/>
          </a:stretch>
        </p:blipFill>
        <p:spPr>
          <a:xfrm>
            <a:off x="3272100" y="152400"/>
            <a:ext cx="5719501" cy="4289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Heatmaps</a:t>
            </a:r>
            <a:endParaRPr/>
          </a:p>
        </p:txBody>
      </p:sp>
      <p:sp>
        <p:nvSpPr>
          <p:cNvPr id="88" name="Google Shape;88;p18"/>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Visual representation of data in a matrix format, where colors represent values.</a:t>
            </a:r>
            <a:r>
              <a:rPr lang="en"/>
              <a:t>.</a:t>
            </a:r>
            <a:endParaRPr/>
          </a:p>
        </p:txBody>
      </p:sp>
      <p:pic>
        <p:nvPicPr>
          <p:cNvPr id="89" name="Google Shape;89;p18"/>
          <p:cNvPicPr preferRelativeResize="0"/>
          <p:nvPr/>
        </p:nvPicPr>
        <p:blipFill>
          <a:blip r:embed="rId3">
            <a:alphaModFix/>
          </a:blip>
          <a:stretch>
            <a:fillRect/>
          </a:stretch>
        </p:blipFill>
        <p:spPr>
          <a:xfrm>
            <a:off x="3272100" y="152400"/>
            <a:ext cx="5719500" cy="47140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Bubble Charts</a:t>
            </a:r>
            <a:endParaRPr/>
          </a:p>
        </p:txBody>
      </p:sp>
      <p:sp>
        <p:nvSpPr>
          <p:cNvPr id="95" name="Google Shape;95;p19"/>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Scatter plot with an additional dimension represented by the size of markers (bubbles).</a:t>
            </a:r>
            <a:endParaRPr/>
          </a:p>
        </p:txBody>
      </p:sp>
      <p:pic>
        <p:nvPicPr>
          <p:cNvPr id="96" name="Google Shape;96;p19"/>
          <p:cNvPicPr preferRelativeResize="0"/>
          <p:nvPr/>
        </p:nvPicPr>
        <p:blipFill>
          <a:blip r:embed="rId3">
            <a:alphaModFix/>
          </a:blip>
          <a:stretch>
            <a:fillRect/>
          </a:stretch>
        </p:blipFill>
        <p:spPr>
          <a:xfrm>
            <a:off x="3272100" y="152400"/>
            <a:ext cx="5719500" cy="4289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6318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Parallel coordinates</a:t>
            </a:r>
            <a:endParaRPr/>
          </a:p>
        </p:txBody>
      </p:sp>
      <p:sp>
        <p:nvSpPr>
          <p:cNvPr id="102" name="Google Shape;102;p20"/>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Parallel coordinates are a common way of visualizing and analyzing high-dimensional datasets.</a:t>
            </a:r>
            <a:endParaRPr/>
          </a:p>
          <a:p>
            <a:pPr indent="0" lvl="0" marL="0" rtl="0" algn="l">
              <a:spcBef>
                <a:spcPts val="1200"/>
              </a:spcBef>
              <a:spcAft>
                <a:spcPts val="1200"/>
              </a:spcAft>
              <a:buNone/>
            </a:pPr>
            <a:r>
              <a:rPr lang="en"/>
              <a:t>System of parallel lines representing different variables, with data points connected across these lines.</a:t>
            </a:r>
            <a:endParaRPr/>
          </a:p>
        </p:txBody>
      </p:sp>
      <p:pic>
        <p:nvPicPr>
          <p:cNvPr id="103" name="Google Shape;103;p20"/>
          <p:cNvPicPr preferRelativeResize="0"/>
          <p:nvPr/>
        </p:nvPicPr>
        <p:blipFill>
          <a:blip r:embed="rId3">
            <a:alphaModFix/>
          </a:blip>
          <a:stretch>
            <a:fillRect/>
          </a:stretch>
        </p:blipFill>
        <p:spPr>
          <a:xfrm>
            <a:off x="3886275" y="666750"/>
            <a:ext cx="3810000" cy="381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Advantages of Multivariate Displays</a:t>
            </a:r>
            <a:endParaRPr/>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Efficient Data Exploration</a:t>
            </a:r>
            <a:endParaRPr b="1"/>
          </a:p>
          <a:p>
            <a:pPr indent="0" lvl="0" marL="457200" rtl="0" algn="l">
              <a:spcBef>
                <a:spcPts val="1200"/>
              </a:spcBef>
              <a:spcAft>
                <a:spcPts val="0"/>
              </a:spcAft>
              <a:buNone/>
            </a:pPr>
            <a:r>
              <a:rPr lang="en"/>
              <a:t>Saves time in understanding complex datasets.</a:t>
            </a:r>
            <a:endParaRPr/>
          </a:p>
          <a:p>
            <a:pPr indent="-342900" lvl="0" marL="457200" rtl="0" algn="l">
              <a:spcBef>
                <a:spcPts val="1200"/>
              </a:spcBef>
              <a:spcAft>
                <a:spcPts val="0"/>
              </a:spcAft>
              <a:buSzPts val="1800"/>
              <a:buChar char="❏"/>
            </a:pPr>
            <a:r>
              <a:rPr b="1" lang="en"/>
              <a:t>Comprehensive Insights</a:t>
            </a:r>
            <a:endParaRPr b="1"/>
          </a:p>
          <a:p>
            <a:pPr indent="0" lvl="0" marL="457200" rtl="0" algn="l">
              <a:spcBef>
                <a:spcPts val="1200"/>
              </a:spcBef>
              <a:spcAft>
                <a:spcPts val="0"/>
              </a:spcAft>
              <a:buNone/>
            </a:pPr>
            <a:r>
              <a:rPr lang="en"/>
              <a:t>Reveals hidden patterns and correlations missed in univariate analyses.</a:t>
            </a:r>
            <a:endParaRPr/>
          </a:p>
          <a:p>
            <a:pPr indent="-342900" lvl="0" marL="457200" rtl="0" algn="l">
              <a:spcBef>
                <a:spcPts val="1200"/>
              </a:spcBef>
              <a:spcAft>
                <a:spcPts val="0"/>
              </a:spcAft>
              <a:buSzPts val="1800"/>
              <a:buChar char="❏"/>
            </a:pPr>
            <a:r>
              <a:rPr b="1" lang="en"/>
              <a:t>Improved Decision-Making</a:t>
            </a:r>
            <a:endParaRPr b="1"/>
          </a:p>
          <a:p>
            <a:pPr indent="0" lvl="0" marL="457200" rtl="0" algn="l">
              <a:spcBef>
                <a:spcPts val="1200"/>
              </a:spcBef>
              <a:spcAft>
                <a:spcPts val="0"/>
              </a:spcAft>
              <a:buNone/>
            </a:pPr>
            <a:r>
              <a:rPr lang="en"/>
              <a:t>Facilitates informed decisions through a holistic data view.</a:t>
            </a:r>
            <a:endParaRPr/>
          </a:p>
          <a:p>
            <a:pPr indent="0" lvl="0" marL="45720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Practices for Creating Multivariate Displays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5" name="Google Shape;115;p22"/>
          <p:cNvSpPr txBox="1"/>
          <p:nvPr>
            <p:ph idx="1" type="body"/>
          </p:nvPr>
        </p:nvSpPr>
        <p:spPr>
          <a:xfrm>
            <a:off x="311700" y="1621175"/>
            <a:ext cx="8520600" cy="2947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Keep it simple</a:t>
            </a:r>
            <a:endParaRPr b="1"/>
          </a:p>
          <a:p>
            <a:pPr indent="-342900" lvl="0" marL="457200" rtl="0" algn="l">
              <a:spcBef>
                <a:spcPts val="0"/>
              </a:spcBef>
              <a:spcAft>
                <a:spcPts val="0"/>
              </a:spcAft>
              <a:buSzPts val="1800"/>
              <a:buChar char="❏"/>
            </a:pPr>
            <a:r>
              <a:rPr b="1" lang="en"/>
              <a:t>Choose appropriate visualization types</a:t>
            </a:r>
            <a:endParaRPr b="1"/>
          </a:p>
          <a:p>
            <a:pPr indent="-342900" lvl="0" marL="457200" rtl="0" algn="l">
              <a:spcBef>
                <a:spcPts val="0"/>
              </a:spcBef>
              <a:spcAft>
                <a:spcPts val="0"/>
              </a:spcAft>
              <a:buSzPts val="1800"/>
              <a:buChar char="❏"/>
            </a:pPr>
            <a:r>
              <a:rPr b="1" lang="en"/>
              <a:t>Provide clear labels and legends</a:t>
            </a:r>
            <a:endParaRPr b="1"/>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68000" y="21939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3000"/>
              <a:t>     </a:t>
            </a:r>
            <a:r>
              <a:rPr lang="en" sz="3000"/>
              <a:t>Thanks!</a:t>
            </a:r>
            <a:endParaRPr sz="3000"/>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